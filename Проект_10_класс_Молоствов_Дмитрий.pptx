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Consolas" panose="020B0609020204030204" pitchFamily="49" charset="0"/>
      <p:regular r:id="rId13"/>
      <p:bold r:id="rId14"/>
      <p:italic r:id="rId15"/>
      <p:boldItalic r:id="rId16"/>
    </p:embeddedFont>
    <p:embeddedFont>
      <p:font typeface="Gelasio" panose="020B0604020202020204" charset="0"/>
      <p:regular r:id="rId17"/>
    </p:embeddedFont>
    <p:embeddedFont>
      <p:font typeface="Gelasio Semi Bold" panose="020B0604020202020204" charset="0"/>
      <p:regular r:id="rId18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9F6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D056E99-F97D-180A-A056-5638FF923309}" v="14" dt="2026-04-08T01:17:59.83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565525" cy="733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4660900" y="0"/>
            <a:ext cx="3567113" cy="733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27623E-132D-406B-8E1E-F26E28EF17D1}" type="datetimeFigureOut">
              <a:t>07.04.2026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13896975"/>
            <a:ext cx="3565525" cy="733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4660900" y="13896975"/>
            <a:ext cx="3567113" cy="733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0A7062-1AFA-4964-96E7-1B6999C95BCB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292682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9.sv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78761" y="624483"/>
            <a:ext cx="7559278" cy="2829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Разработка Telegram-бота на языке Python для помощи в приготовлении блюд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78761" y="3793331"/>
            <a:ext cx="7559278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Практико-ориентированный проект по информатике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6278761" y="4409480"/>
            <a:ext cx="3666649" cy="1665803"/>
          </a:xfrm>
          <a:prstGeom prst="roundRect">
            <a:avLst>
              <a:gd name="adj" fmla="val 2039"/>
            </a:avLst>
          </a:prstGeom>
          <a:solidFill>
            <a:srgbClr val="EEE8DD"/>
          </a:solidFill>
          <a:ln/>
        </p:spPr>
      </p:sp>
      <p:sp>
        <p:nvSpPr>
          <p:cNvPr id="6" name="Text 3"/>
          <p:cNvSpPr/>
          <p:nvPr/>
        </p:nvSpPr>
        <p:spPr>
          <a:xfrm>
            <a:off x="6505099" y="4635818"/>
            <a:ext cx="2829997" cy="353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Автор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6505099" y="5125045"/>
            <a:ext cx="3213973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Молоствов Дмитрий, 10 класс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10171390" y="4409480"/>
            <a:ext cx="3666649" cy="1665803"/>
          </a:xfrm>
          <a:prstGeom prst="roundRect">
            <a:avLst>
              <a:gd name="adj" fmla="val 2039"/>
            </a:avLst>
          </a:prstGeom>
          <a:solidFill>
            <a:srgbClr val="EEE8DD"/>
          </a:solidFill>
          <a:ln/>
        </p:spPr>
      </p:sp>
      <p:sp>
        <p:nvSpPr>
          <p:cNvPr id="9" name="Text 6"/>
          <p:cNvSpPr/>
          <p:nvPr/>
        </p:nvSpPr>
        <p:spPr>
          <a:xfrm>
            <a:off x="10397728" y="4635818"/>
            <a:ext cx="2829997" cy="353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Руководитель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10397728" y="5125045"/>
            <a:ext cx="3213973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Ашуркова Н.А.</a:t>
            </a:r>
            <a:endParaRPr lang="en-US" sz="1750" dirty="0"/>
          </a:p>
        </p:txBody>
      </p:sp>
      <p:sp>
        <p:nvSpPr>
          <p:cNvPr id="11" name="Shape 8"/>
          <p:cNvSpPr/>
          <p:nvPr/>
        </p:nvSpPr>
        <p:spPr>
          <a:xfrm>
            <a:off x="6278761" y="6301264"/>
            <a:ext cx="7559278" cy="1303853"/>
          </a:xfrm>
          <a:prstGeom prst="roundRect">
            <a:avLst>
              <a:gd name="adj" fmla="val 2605"/>
            </a:avLst>
          </a:prstGeom>
          <a:solidFill>
            <a:srgbClr val="EEE8DD"/>
          </a:solidFill>
          <a:ln/>
        </p:spPr>
      </p:sp>
      <p:sp>
        <p:nvSpPr>
          <p:cNvPr id="12" name="Text 9"/>
          <p:cNvSpPr/>
          <p:nvPr/>
        </p:nvSpPr>
        <p:spPr>
          <a:xfrm>
            <a:off x="6505099" y="6527602"/>
            <a:ext cx="2829997" cy="353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Учебное заведение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6505099" y="7016829"/>
            <a:ext cx="7106603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Лицей №101, Санкт-Петербург, 2026</a:t>
            </a:r>
            <a:endParaRPr lang="en-US" sz="1750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A06B07F6-243C-17C6-02DF-90731997D3E4}"/>
              </a:ext>
            </a:extLst>
          </p:cNvPr>
          <p:cNvSpPr/>
          <p:nvPr/>
        </p:nvSpPr>
        <p:spPr>
          <a:xfrm>
            <a:off x="12882465" y="7768123"/>
            <a:ext cx="1629746" cy="343288"/>
          </a:xfrm>
          <a:prstGeom prst="roundRect">
            <a:avLst/>
          </a:prstGeom>
          <a:solidFill>
            <a:srgbClr val="F9F6F0"/>
          </a:solidFill>
          <a:ln>
            <a:solidFill>
              <a:srgbClr val="F9F6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948690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Актуальность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1997631"/>
            <a:ext cx="7556421" cy="2093714"/>
          </a:xfrm>
          <a:prstGeom prst="roundRect">
            <a:avLst>
              <a:gd name="adj" fmla="val 6988"/>
            </a:avLst>
          </a:prstGeom>
          <a:solidFill>
            <a:srgbClr val="F9F6F0"/>
          </a:solidFill>
          <a:ln w="30480">
            <a:solidFill>
              <a:srgbClr val="D4CEC3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249710" y="1997631"/>
            <a:ext cx="121920" cy="2093714"/>
          </a:xfrm>
          <a:prstGeom prst="roundRect">
            <a:avLst>
              <a:gd name="adj" fmla="val 27907"/>
            </a:avLst>
          </a:prstGeom>
          <a:solidFill>
            <a:srgbClr val="D3C5B6"/>
          </a:solidFill>
          <a:ln/>
        </p:spPr>
      </p:sp>
      <p:sp>
        <p:nvSpPr>
          <p:cNvPr id="6" name="Text 3"/>
          <p:cNvSpPr/>
          <p:nvPr/>
        </p:nvSpPr>
        <p:spPr>
          <a:xfrm>
            <a:off x="6628924" y="225492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Проблема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6628924" y="2745343"/>
            <a:ext cx="6950393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Многие начинающие кулинары сталкиваются с трудностями: поиск рецептов, расчёт ингредиентов, отсутствие быстрого помощника.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6280190" y="4318159"/>
            <a:ext cx="7556421" cy="1367909"/>
          </a:xfrm>
          <a:prstGeom prst="roundRect">
            <a:avLst>
              <a:gd name="adj" fmla="val 10695"/>
            </a:avLst>
          </a:prstGeom>
          <a:solidFill>
            <a:srgbClr val="F9F6F0"/>
          </a:solidFill>
          <a:ln w="30480">
            <a:solidFill>
              <a:srgbClr val="D4CEC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249710" y="4318159"/>
            <a:ext cx="121920" cy="1367909"/>
          </a:xfrm>
          <a:prstGeom prst="roundRect">
            <a:avLst>
              <a:gd name="adj" fmla="val 27907"/>
            </a:avLst>
          </a:prstGeom>
          <a:solidFill>
            <a:srgbClr val="D3C5B6"/>
          </a:solidFill>
          <a:ln/>
        </p:spPr>
      </p:sp>
      <p:sp>
        <p:nvSpPr>
          <p:cNvPr id="10" name="Text 7"/>
          <p:cNvSpPr/>
          <p:nvPr/>
        </p:nvSpPr>
        <p:spPr>
          <a:xfrm>
            <a:off x="6628924" y="457545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Платформа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6628924" y="5065871"/>
            <a:ext cx="69503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Telegram — удобная платформа для такого помощника.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6280190" y="5912882"/>
            <a:ext cx="7556421" cy="1367909"/>
          </a:xfrm>
          <a:prstGeom prst="roundRect">
            <a:avLst>
              <a:gd name="adj" fmla="val 10695"/>
            </a:avLst>
          </a:prstGeom>
          <a:solidFill>
            <a:srgbClr val="F9F6F0"/>
          </a:solidFill>
          <a:ln w="30480">
            <a:solidFill>
              <a:srgbClr val="D4CEC3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249710" y="5912882"/>
            <a:ext cx="121920" cy="1367909"/>
          </a:xfrm>
          <a:prstGeom prst="roundRect">
            <a:avLst>
              <a:gd name="adj" fmla="val 27907"/>
            </a:avLst>
          </a:prstGeom>
          <a:solidFill>
            <a:srgbClr val="D3C5B6"/>
          </a:solidFill>
          <a:ln/>
        </p:spPr>
      </p:sp>
      <p:sp>
        <p:nvSpPr>
          <p:cNvPr id="14" name="Text 11"/>
          <p:cNvSpPr/>
          <p:nvPr/>
        </p:nvSpPr>
        <p:spPr>
          <a:xfrm>
            <a:off x="6628924" y="617017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Вывод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6628924" y="6660594"/>
            <a:ext cx="69503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Разработка бота актуальна.</a:t>
            </a:r>
            <a:endParaRPr lang="en-US" sz="1750" dirty="0"/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95811C02-9892-16BA-CEB7-5D4CE25BCD09}"/>
              </a:ext>
            </a:extLst>
          </p:cNvPr>
          <p:cNvSpPr/>
          <p:nvPr/>
        </p:nvSpPr>
        <p:spPr>
          <a:xfrm>
            <a:off x="12882465" y="7768123"/>
            <a:ext cx="1629746" cy="343288"/>
          </a:xfrm>
          <a:prstGeom prst="roundRect">
            <a:avLst/>
          </a:prstGeom>
          <a:solidFill>
            <a:srgbClr val="F9F6F0"/>
          </a:solidFill>
          <a:ln>
            <a:solidFill>
              <a:srgbClr val="F9F6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38657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Цель и задачи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630436" y="2687598"/>
            <a:ext cx="6571417" cy="3903345"/>
          </a:xfrm>
          <a:prstGeom prst="roundRect">
            <a:avLst>
              <a:gd name="adj" fmla="val 872"/>
            </a:avLst>
          </a:prstGeom>
          <a:solidFill>
            <a:srgbClr val="D3C5B6"/>
          </a:solidFill>
          <a:ln/>
        </p:spPr>
      </p:sp>
      <p:sp>
        <p:nvSpPr>
          <p:cNvPr id="4" name="Text 2"/>
          <p:cNvSpPr/>
          <p:nvPr/>
        </p:nvSpPr>
        <p:spPr>
          <a:xfrm>
            <a:off x="857250" y="291441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Цель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57250" y="3495556"/>
            <a:ext cx="611778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Создать Telegram-бота на Python для поиска рецептов, расчёта ингредиентов и кулинарных советов.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599521" y="291441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Задачи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599521" y="3495556"/>
            <a:ext cx="6244709" cy="30160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Изучить основы ботов на Python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Проанализировать запросы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Разработать логику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Сформировать базу рецептов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Реализовать функции поиска и пересчёта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Протестировать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Оформить проект</a:t>
            </a:r>
            <a:endParaRPr lang="en-US" sz="1750" dirty="0"/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352E7FFC-0CE4-C762-A089-CD62AAA54D27}"/>
              </a:ext>
            </a:extLst>
          </p:cNvPr>
          <p:cNvSpPr/>
          <p:nvPr/>
        </p:nvSpPr>
        <p:spPr>
          <a:xfrm>
            <a:off x="12882465" y="7768123"/>
            <a:ext cx="1629746" cy="343288"/>
          </a:xfrm>
          <a:prstGeom prst="roundRect">
            <a:avLst/>
          </a:prstGeom>
          <a:solidFill>
            <a:srgbClr val="F9F6F0"/>
          </a:solidFill>
          <a:ln>
            <a:solidFill>
              <a:srgbClr val="F9F6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500193"/>
            <a:ext cx="712827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Объект, предмет, методы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3790" y="3662601"/>
            <a:ext cx="566976" cy="5669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451306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Объект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5003483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Процесс приготовления пищи с цифровыми помощниками.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5893" y="3662601"/>
            <a:ext cx="566976" cy="56697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35893" y="451306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Предмет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5235893" y="5003483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Telegram-бот как инструмент помощи.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677995" y="3662601"/>
            <a:ext cx="566976" cy="56697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677995" y="451306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Методы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9677995" y="5003483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Анализ, проектирование, программирование, тестирование.</a:t>
            </a:r>
            <a:endParaRPr lang="en-US" sz="1750" dirty="0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43295E98-4BA2-F32A-2D52-E07B7EF38AE3}"/>
              </a:ext>
            </a:extLst>
          </p:cNvPr>
          <p:cNvSpPr/>
          <p:nvPr/>
        </p:nvSpPr>
        <p:spPr>
          <a:xfrm>
            <a:off x="12882465" y="7768123"/>
            <a:ext cx="1629746" cy="343288"/>
          </a:xfrm>
          <a:prstGeom prst="roundRect">
            <a:avLst/>
          </a:prstGeom>
          <a:solidFill>
            <a:srgbClr val="F9F6F0"/>
          </a:solidFill>
          <a:ln>
            <a:solidFill>
              <a:srgbClr val="F9F6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022634"/>
            <a:ext cx="579417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Теоретическая часть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3071574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EE8DD"/>
          </a:solidFill>
          <a:ln/>
        </p:spPr>
      </p:sp>
      <p:sp>
        <p:nvSpPr>
          <p:cNvPr id="5" name="Text 2"/>
          <p:cNvSpPr/>
          <p:nvPr/>
        </p:nvSpPr>
        <p:spPr>
          <a:xfrm>
            <a:off x="6365260" y="3114080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1</a:t>
            </a:r>
            <a:endParaRPr lang="en-US" sz="2650" dirty="0"/>
          </a:p>
        </p:txBody>
      </p:sp>
      <p:sp>
        <p:nvSpPr>
          <p:cNvPr id="6" name="Text 3"/>
          <p:cNvSpPr/>
          <p:nvPr/>
        </p:nvSpPr>
        <p:spPr>
          <a:xfrm>
            <a:off x="7017306" y="3149441"/>
            <a:ext cx="610088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Что такое Telegram-бот и Telegram Bot API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6280190" y="4035504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EE8DD"/>
          </a:solidFill>
          <a:ln/>
        </p:spPr>
      </p:sp>
      <p:sp>
        <p:nvSpPr>
          <p:cNvPr id="8" name="Text 5"/>
          <p:cNvSpPr/>
          <p:nvPr/>
        </p:nvSpPr>
        <p:spPr>
          <a:xfrm>
            <a:off x="6365260" y="4078010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2</a:t>
            </a:r>
            <a:endParaRPr lang="en-US" sz="2650" dirty="0"/>
          </a:p>
        </p:txBody>
      </p:sp>
      <p:sp>
        <p:nvSpPr>
          <p:cNvPr id="9" name="Text 6"/>
          <p:cNvSpPr/>
          <p:nvPr/>
        </p:nvSpPr>
        <p:spPr>
          <a:xfrm>
            <a:off x="7017306" y="4113371"/>
            <a:ext cx="681930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Почему Python и библиотека python-telegram-bot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6280190" y="5275659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EE8DD"/>
          </a:solidFill>
          <a:ln/>
        </p:spPr>
      </p:sp>
      <p:sp>
        <p:nvSpPr>
          <p:cNvPr id="11" name="Text 8"/>
          <p:cNvSpPr/>
          <p:nvPr/>
        </p:nvSpPr>
        <p:spPr>
          <a:xfrm>
            <a:off x="6365260" y="5318165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3</a:t>
            </a:r>
            <a:endParaRPr lang="en-US" sz="2650" dirty="0"/>
          </a:p>
        </p:txBody>
      </p:sp>
      <p:sp>
        <p:nvSpPr>
          <p:cNvPr id="12" name="Text 9"/>
          <p:cNvSpPr/>
          <p:nvPr/>
        </p:nvSpPr>
        <p:spPr>
          <a:xfrm>
            <a:off x="7017306" y="5353526"/>
            <a:ext cx="448639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Как боты помогают в кулинарии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7017306" y="5843945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Поиск по продуктам, пересчёт порций, таймеры.</a:t>
            </a:r>
            <a:endParaRPr lang="en-US" sz="1750" dirty="0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55C16BEA-041F-61FE-BD97-E24E0F329785}"/>
              </a:ext>
            </a:extLst>
          </p:cNvPr>
          <p:cNvSpPr/>
          <p:nvPr/>
        </p:nvSpPr>
        <p:spPr>
          <a:xfrm>
            <a:off x="12882465" y="7768123"/>
            <a:ext cx="1629746" cy="343288"/>
          </a:xfrm>
          <a:prstGeom prst="roundRect">
            <a:avLst/>
          </a:prstGeom>
          <a:solidFill>
            <a:srgbClr val="F9F6F0"/>
          </a:solidFill>
          <a:ln>
            <a:solidFill>
              <a:srgbClr val="F9F6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904524"/>
            <a:ext cx="853928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Идея и принципы работы бота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066931"/>
            <a:ext cx="2944535" cy="426244"/>
          </a:xfrm>
          <a:prstGeom prst="roundRect">
            <a:avLst>
              <a:gd name="adj" fmla="val 6386"/>
            </a:avLst>
          </a:prstGeom>
          <a:solidFill>
            <a:srgbClr val="ECE6DF"/>
          </a:solidFill>
          <a:ln/>
        </p:spPr>
      </p:sp>
      <p:sp>
        <p:nvSpPr>
          <p:cNvPr id="4" name="Text 2"/>
          <p:cNvSpPr/>
          <p:nvPr/>
        </p:nvSpPr>
        <p:spPr>
          <a:xfrm>
            <a:off x="929878" y="3134916"/>
            <a:ext cx="2672358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«КУЛИНАРНЫЙ ПОМОЩНИК»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30436" y="3748326"/>
            <a:ext cx="6571417" cy="2576751"/>
          </a:xfrm>
          <a:prstGeom prst="roundRect">
            <a:avLst>
              <a:gd name="adj" fmla="val 1320"/>
            </a:avLst>
          </a:prstGeom>
          <a:solidFill>
            <a:srgbClr val="D3C5B6"/>
          </a:solidFill>
          <a:ln/>
        </p:spPr>
      </p:sp>
      <p:sp>
        <p:nvSpPr>
          <p:cNvPr id="6" name="Text 4"/>
          <p:cNvSpPr/>
          <p:nvPr/>
        </p:nvSpPr>
        <p:spPr>
          <a:xfrm>
            <a:off x="857250" y="397514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Команды и функции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57250" y="4556284"/>
            <a:ext cx="6117788" cy="1689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Поиск рецепта по названию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Поиск по продуктам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Случайный рецепт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Конвертер порций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599521" y="397514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Как начать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599521" y="4556284"/>
            <a:ext cx="6244709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Пользователь начинает с </a:t>
            </a:r>
            <a:r>
              <a:rPr lang="en-US" sz="1750" dirty="0">
                <a:solidFill>
                  <a:srgbClr val="746558"/>
                </a:solidFill>
                <a:highlight>
                  <a:srgbClr val="ECE9E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/start</a:t>
            </a: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, далее кнопки меню.</a:t>
            </a:r>
            <a:endParaRPr lang="en-US" sz="1750" dirty="0"/>
          </a:p>
        </p:txBody>
      </p: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FC5A4FC6-F4DF-8EEE-F88E-586CAC989A71}"/>
              </a:ext>
            </a:extLst>
          </p:cNvPr>
          <p:cNvSpPr/>
          <p:nvPr/>
        </p:nvSpPr>
        <p:spPr>
          <a:xfrm>
            <a:off x="12882465" y="7768123"/>
            <a:ext cx="1629746" cy="343288"/>
          </a:xfrm>
          <a:prstGeom prst="roundRect">
            <a:avLst/>
          </a:prstGeom>
          <a:solidFill>
            <a:srgbClr val="F9F6F0"/>
          </a:solidFill>
          <a:ln>
            <a:solidFill>
              <a:srgbClr val="F9F6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920359"/>
            <a:ext cx="856226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Проектирование и технологии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082766"/>
            <a:ext cx="6407944" cy="1329809"/>
          </a:xfrm>
          <a:prstGeom prst="roundRect">
            <a:avLst>
              <a:gd name="adj" fmla="val 2559"/>
            </a:avLst>
          </a:prstGeom>
          <a:solidFill>
            <a:srgbClr val="EEE8DD"/>
          </a:solidFill>
          <a:ln/>
        </p:spPr>
      </p:sp>
      <p:sp>
        <p:nvSpPr>
          <p:cNvPr id="4" name="Text 2"/>
          <p:cNvSpPr/>
          <p:nvPr/>
        </p:nvSpPr>
        <p:spPr>
          <a:xfrm>
            <a:off x="1020604" y="330958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Язык и библиотека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20604" y="3799999"/>
            <a:ext cx="5954316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Python, библиотека </a:t>
            </a:r>
            <a:r>
              <a:rPr lang="en-US" sz="1750" dirty="0">
                <a:solidFill>
                  <a:srgbClr val="746558"/>
                </a:solidFill>
                <a:highlight>
                  <a:srgbClr val="ECE9E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python-telegram-bot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7428548" y="3082766"/>
            <a:ext cx="6408063" cy="1329809"/>
          </a:xfrm>
          <a:prstGeom prst="roundRect">
            <a:avLst>
              <a:gd name="adj" fmla="val 2559"/>
            </a:avLst>
          </a:prstGeom>
          <a:solidFill>
            <a:srgbClr val="EEE8DD"/>
          </a:solidFill>
          <a:ln/>
        </p:spPr>
      </p:sp>
      <p:sp>
        <p:nvSpPr>
          <p:cNvPr id="7" name="Text 5"/>
          <p:cNvSpPr/>
          <p:nvPr/>
        </p:nvSpPr>
        <p:spPr>
          <a:xfrm>
            <a:off x="7655362" y="330958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Хранение данных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655362" y="3799999"/>
            <a:ext cx="59544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JSON  (база рецептов)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793790" y="4639389"/>
            <a:ext cx="6407944" cy="1669852"/>
          </a:xfrm>
          <a:prstGeom prst="roundRect">
            <a:avLst>
              <a:gd name="adj" fmla="val 2038"/>
            </a:avLst>
          </a:prstGeom>
          <a:solidFill>
            <a:srgbClr val="EEE8DD"/>
          </a:solidFill>
          <a:ln/>
        </p:spPr>
      </p:sp>
      <p:sp>
        <p:nvSpPr>
          <p:cNvPr id="10" name="Text 8"/>
          <p:cNvSpPr/>
          <p:nvPr/>
        </p:nvSpPr>
        <p:spPr>
          <a:xfrm>
            <a:off x="1020604" y="48662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Архитектура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20604" y="5356622"/>
            <a:ext cx="59543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Логика разделена на модули: API, БД, бизнес-логика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428548" y="4639389"/>
            <a:ext cx="6408063" cy="1669852"/>
          </a:xfrm>
          <a:prstGeom prst="roundRect">
            <a:avLst>
              <a:gd name="adj" fmla="val 2038"/>
            </a:avLst>
          </a:prstGeom>
          <a:solidFill>
            <a:srgbClr val="EEE8DD"/>
          </a:solidFill>
          <a:ln/>
        </p:spPr>
      </p:sp>
      <p:sp>
        <p:nvSpPr>
          <p:cNvPr id="13" name="Text 11"/>
          <p:cNvSpPr/>
          <p:nvPr/>
        </p:nvSpPr>
        <p:spPr>
          <a:xfrm>
            <a:off x="7655362" y="48662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Пример базы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655362" y="5356622"/>
            <a:ext cx="59544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Название, ингредиенты, инструкция, время, сложность</a:t>
            </a:r>
            <a:endParaRPr lang="en-US" sz="1750" dirty="0"/>
          </a:p>
        </p:txBody>
      </p:sp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D454D04E-29D1-9966-A4A5-CFD56591492E}"/>
              </a:ext>
            </a:extLst>
          </p:cNvPr>
          <p:cNvSpPr/>
          <p:nvPr/>
        </p:nvSpPr>
        <p:spPr>
          <a:xfrm>
            <a:off x="12882465" y="7768123"/>
            <a:ext cx="1629746" cy="343288"/>
          </a:xfrm>
          <a:prstGeom prst="roundRect">
            <a:avLst/>
          </a:prstGeom>
          <a:solidFill>
            <a:srgbClr val="F9F6F0"/>
          </a:solidFill>
          <a:ln>
            <a:solidFill>
              <a:srgbClr val="F9F6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70069" y="633174"/>
            <a:ext cx="7576661" cy="1399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Результат работы (практическая часть)</a:t>
            </a:r>
            <a:endParaRPr lang="en-US" sz="44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54008" y="2371070"/>
            <a:ext cx="335875" cy="33587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997660" y="2364224"/>
            <a:ext cx="3867983" cy="349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Бот создан и протестирован</a:t>
            </a:r>
            <a:endParaRPr lang="en-US" sz="2200" dirty="0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54008" y="3491805"/>
            <a:ext cx="335875" cy="335875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6997660" y="3484959"/>
            <a:ext cx="3320296" cy="349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Скриншоты интерфейса</a:t>
            </a:r>
            <a:endParaRPr lang="en-US" sz="2200" dirty="0"/>
          </a:p>
        </p:txBody>
      </p:sp>
      <p:sp>
        <p:nvSpPr>
          <p:cNvPr id="8" name="Text 3"/>
          <p:cNvSpPr/>
          <p:nvPr/>
        </p:nvSpPr>
        <p:spPr>
          <a:xfrm>
            <a:off x="6997660" y="3967401"/>
            <a:ext cx="6849070" cy="7119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Можно добавить позже, в промпте указать место для изображений.</a:t>
            </a:r>
            <a:endParaRPr lang="en-US" sz="175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54008" y="5128320"/>
            <a:ext cx="335875" cy="335875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6997660" y="5121473"/>
            <a:ext cx="2799040" cy="349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Функционал</a:t>
            </a:r>
            <a:endParaRPr lang="en-US" sz="2200" dirty="0"/>
          </a:p>
        </p:txBody>
      </p:sp>
      <p:sp>
        <p:nvSpPr>
          <p:cNvPr id="11" name="Text 5"/>
          <p:cNvSpPr/>
          <p:nvPr/>
        </p:nvSpPr>
        <p:spPr>
          <a:xfrm>
            <a:off x="6997660" y="5603915"/>
            <a:ext cx="6849070" cy="7119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Бот выдаёт рецепты, пересчитывает ингредиенты, даёт советы.</a:t>
            </a:r>
            <a:endParaRPr lang="en-US" sz="175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54008" y="6764834"/>
            <a:ext cx="335875" cy="335875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6997660" y="6757988"/>
            <a:ext cx="2799040" cy="349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Пример диалога</a:t>
            </a:r>
            <a:endParaRPr lang="en-US" sz="2200" dirty="0"/>
          </a:p>
        </p:txBody>
      </p:sp>
      <p:sp>
        <p:nvSpPr>
          <p:cNvPr id="14" name="Text 7"/>
          <p:cNvSpPr/>
          <p:nvPr/>
        </p:nvSpPr>
        <p:spPr>
          <a:xfrm>
            <a:off x="6997660" y="7240429"/>
            <a:ext cx="6849070" cy="3559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Пользователь → бот → ответ с рецептом.</a:t>
            </a:r>
            <a:endParaRPr lang="en-US" sz="1750" dirty="0"/>
          </a:p>
        </p:txBody>
      </p:sp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EDDCD5F9-65C1-993A-2C88-181E43CF8205}"/>
              </a:ext>
            </a:extLst>
          </p:cNvPr>
          <p:cNvSpPr/>
          <p:nvPr/>
        </p:nvSpPr>
        <p:spPr>
          <a:xfrm>
            <a:off x="12882465" y="7768123"/>
            <a:ext cx="1629746" cy="343288"/>
          </a:xfrm>
          <a:prstGeom prst="roundRect">
            <a:avLst/>
          </a:prstGeom>
          <a:solidFill>
            <a:srgbClr val="F9F6F0"/>
          </a:solidFill>
          <a:ln>
            <a:solidFill>
              <a:srgbClr val="F9F6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301954"/>
            <a:ext cx="771679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Заключение и перспективы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630436" y="3350895"/>
            <a:ext cx="6571417" cy="2576751"/>
          </a:xfrm>
          <a:prstGeom prst="roundRect">
            <a:avLst>
              <a:gd name="adj" fmla="val 1320"/>
            </a:avLst>
          </a:prstGeom>
          <a:solidFill>
            <a:srgbClr val="D3C5B6"/>
          </a:solidFill>
          <a:ln/>
        </p:spPr>
      </p:sp>
      <p:sp>
        <p:nvSpPr>
          <p:cNvPr id="4" name="Text 2"/>
          <p:cNvSpPr/>
          <p:nvPr/>
        </p:nvSpPr>
        <p:spPr>
          <a:xfrm>
            <a:off x="857250" y="357770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Итоги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57250" y="4158853"/>
            <a:ext cx="6117788" cy="805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Цель достигнута, задачи выполнены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Бот помогает на кухне, экономит время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599521" y="357770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Перспективы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599521" y="4158853"/>
            <a:ext cx="6244709" cy="1689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Интеграция с кулинарными базами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Планирование меню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Учёт калорий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Голосовое управление</a:t>
            </a:r>
            <a:endParaRPr lang="en-US" sz="1750" dirty="0"/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4A56B8AE-11A2-994D-DF89-6CB87CACD7AC}"/>
              </a:ext>
            </a:extLst>
          </p:cNvPr>
          <p:cNvSpPr/>
          <p:nvPr/>
        </p:nvSpPr>
        <p:spPr>
          <a:xfrm>
            <a:off x="12882465" y="7768123"/>
            <a:ext cx="1629746" cy="343288"/>
          </a:xfrm>
          <a:prstGeom prst="roundRect">
            <a:avLst/>
          </a:prstGeom>
          <a:solidFill>
            <a:srgbClr val="F9F6F0"/>
          </a:solidFill>
          <a:ln>
            <a:solidFill>
              <a:srgbClr val="F9F6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3101221"/>
            <a:ext cx="622565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Спасибо за внимание!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150162"/>
            <a:ext cx="7556421" cy="9782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700"/>
              </a:lnSpc>
              <a:buNone/>
            </a:pPr>
            <a:endParaRPr lang="en-US" sz="6150" dirty="0"/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D3131044-E444-EFEE-85AF-345C2141A6BE}"/>
              </a:ext>
            </a:extLst>
          </p:cNvPr>
          <p:cNvSpPr/>
          <p:nvPr/>
        </p:nvSpPr>
        <p:spPr>
          <a:xfrm>
            <a:off x="12882465" y="7768123"/>
            <a:ext cx="1629746" cy="343288"/>
          </a:xfrm>
          <a:prstGeom prst="roundRect">
            <a:avLst/>
          </a:prstGeom>
          <a:solidFill>
            <a:srgbClr val="F9F6F0"/>
          </a:solidFill>
          <a:ln>
            <a:solidFill>
              <a:srgbClr val="F9F6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Произвольный</PresentationFormat>
  <Paragraphs>0</Paragraphs>
  <Slides>10</Slides>
  <Notes>10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1" baseType="lpstr"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7</cp:revision>
  <dcterms:created xsi:type="dcterms:W3CDTF">2026-04-08T01:16:25Z</dcterms:created>
  <dcterms:modified xsi:type="dcterms:W3CDTF">2026-04-08T01:18:18Z</dcterms:modified>
</cp:coreProperties>
</file>